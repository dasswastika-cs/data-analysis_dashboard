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84E2E-8B46-4453-8F55-232556D11D90}" v="28" dt="2026-07-12T08:08:21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CC520-91DE-4E0B-B030-911DC1D5C13F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A84E5-E59A-4726-BD7D-F1308AE35A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5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A84E5-E59A-4726-BD7D-F1308AE35A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716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A84E5-E59A-4726-BD7D-F1308AE35A7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6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CC2A-CD92-4C1C-C798-365C9B5F5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524A1-DF1A-90B0-4250-36AC8BBBC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9A97F-323F-3AF3-86BA-F9F1DEB6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8C04-0FAB-1D9D-E1A7-4ECE421E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9C38-610D-5A5E-BFBB-F2B518EF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4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E2F6-35E1-32F6-4AB6-E0D3A489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1F979-3EB0-AA2D-97C2-3735FE594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870BB-4E7B-BB7A-BE8A-D99FC588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905C-5089-25F3-2FB6-DBA795F2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4782C-A1D7-ED16-8058-3BA57EF0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05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8E7F-57D4-422B-EAED-BC2D691E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9FF8-7D16-27D8-31F7-4E7544E28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2FBC3-9DB9-494F-51AF-5C213FA5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FB9A-AA78-46C1-DE2E-F23E4B77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5EAD-07BD-9177-C386-5E0ECFC6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029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774C-0AC9-0223-60C8-BF44C338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5E82-9556-28C6-61B5-7CAAEABD7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32319-277E-F8FF-A585-5D11D0A66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CCE48-B8CA-57EA-E9E1-05509B14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65CAE-F58A-A7DA-EE1B-59781932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37C95-AA1A-9206-2805-BACB2EC4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EE72-6B48-1268-049C-EC2A8262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643F6-CC65-5AEF-DF9F-FC849DA0E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15806-FB05-610E-307B-1E9000245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2D110-DCB3-2590-FECE-A0B6E803B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A69BF-0F32-CE20-8FB7-392462559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7CB58-432C-E35F-C558-5D53B099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6FDE2-0FA7-DB16-480E-D48D1BEF0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B5DE8-A3EF-0957-F957-2FF45038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34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E058-0C50-F734-C1D7-C1F43BCA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43356-1617-6BEB-677D-16246737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C4376-B01A-E5F2-E1D5-74D79DAF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92EE2-966F-3228-DB82-8F4C0821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204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2B918-F471-478B-BACA-A3A5FCF6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069DF-D428-6B1C-69D1-E1BA88B4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F69C9-D74F-8AC4-6C13-ADCF4870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7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5603-CD08-6CFF-56D3-2DDCADD0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24C36-9ADF-1FFF-A051-CE4F4353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BD61C-017C-FE19-984F-7A9613D13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E37C-7063-0374-CBD7-914D8694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6D2B5-5768-9976-29B1-86230AADD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E7F7E-BD60-8F5C-5615-F8F68B6E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38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B976-E3E3-AC79-18DE-6237AF87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97B25-13C7-7489-8AB5-8241F87FB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C062B-BFC8-F54D-EA1B-84A60C968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6179F-2A22-37B4-77D6-F6C4E945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CCD95-2BCA-FF05-A382-9448DE9F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25DE4-0B96-2658-976B-710B5D82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222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B953-4267-BFCE-2C63-7A29ECA0B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50D57-60DF-FEA8-3996-E2F6506BE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489E-59F9-7304-2AEF-01AB7916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973E-244B-736B-0587-9CB68121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E961-9B6E-FC82-8481-44FC8957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64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5634C-3085-5B47-8E1E-9F6754CB5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E03D1-2E36-58D1-2075-8A309DAD2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A6015-3ED1-A2D8-9CA0-A3459318E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3DB6-1E72-217C-3509-50AF83FD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C97A6-C2F2-DACE-B38B-B5F64C41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764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6EDA2-0294-2B47-A876-70878BDCF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4B42B-620C-56F2-7CB2-417358357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C7E19-1D44-A9DD-A354-014A19762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57EE1-57B7-40C7-AA17-C8A8601FC272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CD1BD-EF38-FEF7-E192-D3A8EC6EE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50CB8-132E-2681-36DE-0896E2631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6C9B2-66EF-42D2-9BB6-1ED46DFA3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8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D4F1-C4E8-EEC7-855D-AA6BDE2C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9660"/>
            <a:ext cx="9144000" cy="2423037"/>
          </a:xfrm>
        </p:spPr>
        <p:txBody>
          <a:bodyPr>
            <a:normAutofit/>
          </a:bodyPr>
          <a:lstStyle/>
          <a:p>
            <a:r>
              <a:rPr lang="en-US" sz="5000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Flipkart</a:t>
            </a:r>
            <a:r>
              <a:rPr lang="en-US" sz="5000" b="1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5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 Analysis</a:t>
            </a:r>
            <a:endParaRPr lang="en-IN" sz="5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EC33C-AF79-DB39-49BD-57718F962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" y="2834763"/>
            <a:ext cx="11135360" cy="38505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Business Intelligence Dashboard Project</a:t>
            </a:r>
          </a:p>
          <a:p>
            <a:r>
              <a:rPr lang="en-IN" dirty="0">
                <a:solidFill>
                  <a:srgbClr val="FFC000"/>
                </a:solidFill>
              </a:rPr>
              <a:t>Powered By Power BI</a:t>
            </a:r>
          </a:p>
          <a:p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_______________________________________________________________________</a:t>
            </a:r>
          </a:p>
          <a:p>
            <a:endParaRPr lang="en-IN" i="1" dirty="0">
              <a:solidFill>
                <a:schemeClr val="accent2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Presented By: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Moupiya</a:t>
            </a:r>
            <a:r>
              <a:rPr lang="en-IN" sz="2000" dirty="0">
                <a:solidFill>
                  <a:schemeClr val="bg1"/>
                </a:solidFill>
              </a:rPr>
              <a:t> Saha | Tanishka Saha | Sangita Das | Swastika Das | Shovon Das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238BB8-11B4-1F67-735D-036683E0DEC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42760"/>
              </a:clrFrom>
              <a:clrTo>
                <a:srgbClr val="04276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3000" contras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" y="7569"/>
            <a:ext cx="1320641" cy="10838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7F9086B-1885-3155-4C07-8264880589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22461"/>
              </a:clrFrom>
              <a:clrTo>
                <a:srgbClr val="02246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455" y="7569"/>
            <a:ext cx="1554322" cy="10889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4A3D78-0F4B-3CE8-B39B-5CBA7C1466F1}"/>
              </a:ext>
            </a:extLst>
          </p:cNvPr>
          <p:cNvSpPr txBox="1"/>
          <p:nvPr/>
        </p:nvSpPr>
        <p:spPr>
          <a:xfrm>
            <a:off x="1409864" y="91440"/>
            <a:ext cx="92581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INSTITUTE OF ENGINEERING AND MANAGEMENT, KOLKATA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SALT LAKE</a:t>
            </a: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(School of University of Engineering and Management, Kolkata)</a:t>
            </a:r>
          </a:p>
        </p:txBody>
      </p:sp>
    </p:spTree>
    <p:extLst>
      <p:ext uri="{BB962C8B-B14F-4D97-AF65-F5344CB8AC3E}">
        <p14:creationId xmlns:p14="http://schemas.microsoft.com/office/powerpoint/2010/main" val="1395267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85FD-4A3D-E4BD-F10F-9284466D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5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D2CDCB-A6D2-B66C-BBCC-D591CE795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845" y="1789010"/>
            <a:ext cx="5849815" cy="3687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E5390-7A3E-B520-65DB-51C041131556}"/>
              </a:ext>
            </a:extLst>
          </p:cNvPr>
          <p:cNvSpPr txBox="1"/>
          <p:nvPr/>
        </p:nvSpPr>
        <p:spPr>
          <a:xfrm>
            <a:off x="955040" y="1595120"/>
            <a:ext cx="50341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project analyzes massive volumes of </a:t>
            </a:r>
            <a:r>
              <a:rPr lang="en-US" b="1" dirty="0">
                <a:solidFill>
                  <a:schemeClr val="bg1"/>
                </a:solidFill>
              </a:rPr>
              <a:t>Flipkart Product Data</a:t>
            </a:r>
            <a:r>
              <a:rPr lang="en-US" dirty="0">
                <a:solidFill>
                  <a:schemeClr val="bg1"/>
                </a:solidFill>
              </a:rPr>
              <a:t> using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, transforming raw numbers into actionable visual intelligence.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 dashboard empowers users to understand 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Product performance across various market categories.</a:t>
            </a: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Historical sales trends and fluid pricing dynamics.</a:t>
            </a: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Customer satisfaction ratings and category-wise deep dives.</a:t>
            </a:r>
          </a:p>
          <a:p>
            <a:pPr marL="285750" indent="-285750">
              <a:buClr>
                <a:srgbClr val="FFFF00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>
              <a:buClr>
                <a:srgbClr val="FFFF00"/>
              </a:buClr>
            </a:pPr>
            <a:r>
              <a:rPr lang="en-IN" dirty="0">
                <a:solidFill>
                  <a:schemeClr val="bg1"/>
                </a:solidFill>
              </a:rPr>
              <a:t>Through interactive visualizations, decisions-makers can easily identify business insights and support strategic growth initiatives.</a:t>
            </a:r>
          </a:p>
        </p:txBody>
      </p:sp>
    </p:spTree>
    <p:extLst>
      <p:ext uri="{BB962C8B-B14F-4D97-AF65-F5344CB8AC3E}">
        <p14:creationId xmlns:p14="http://schemas.microsoft.com/office/powerpoint/2010/main" val="2435897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FB2F-F6C7-9DE0-EE4E-8EE887C7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29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Core Project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Goals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4C79-130D-6EE1-CA76-690DE72B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1999"/>
            <a:ext cx="3073400" cy="4031872"/>
          </a:xfr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/>
          <a:lstStyle/>
          <a:p>
            <a:pPr marL="0" indent="0" algn="ctr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</a:rPr>
              <a:t>Analyze &amp; Find</a:t>
            </a:r>
          </a:p>
          <a:p>
            <a:pPr marL="0" indent="0" algn="ctr">
              <a:buNone/>
            </a:pPr>
            <a:endParaRPr lang="en-IN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1800" b="1" dirty="0" err="1">
                <a:solidFill>
                  <a:schemeClr val="bg1"/>
                </a:solidFill>
              </a:rPr>
              <a:t>Analyze</a:t>
            </a:r>
            <a:r>
              <a:rPr lang="en-IN" sz="1800" b="1" dirty="0">
                <a:solidFill>
                  <a:schemeClr val="bg1"/>
                </a:solidFill>
              </a:rPr>
              <a:t> extensive Flipkart product and sales datasets to pinpoint the absolute         best-selling products and   top-performing categories.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BA1AE-A9A6-F39E-1213-F14E039C4477}"/>
              </a:ext>
            </a:extLst>
          </p:cNvPr>
          <p:cNvSpPr txBox="1"/>
          <p:nvPr/>
        </p:nvSpPr>
        <p:spPr>
          <a:xfrm>
            <a:off x="4696460" y="2031999"/>
            <a:ext cx="3073400" cy="4031873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reflection endPos="0" dist="50800" dir="5400000" sy="-100000" algn="bl" rotWithShape="0"/>
            <a:softEdge rad="38100"/>
          </a:effectLst>
        </p:spPr>
        <p:txBody>
          <a:bodyPr wrap="square" rtlCol="0">
            <a:spAutoFit/>
          </a:bodyPr>
          <a:lstStyle/>
          <a:p>
            <a:pPr algn="ctr"/>
            <a:endParaRPr lang="en-IN" sz="2800" dirty="0"/>
          </a:p>
          <a:p>
            <a:pPr algn="ctr"/>
            <a:endParaRPr lang="en-IN" sz="2800" dirty="0"/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Compare Metrics</a:t>
            </a:r>
          </a:p>
          <a:p>
            <a:pPr algn="ctr"/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Compare crucial metrics including product prices, discount structures, and customer ratings to understand overarching market dynamics.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22F19-88FE-8363-2BB6-26A8186C5CC1}"/>
              </a:ext>
            </a:extLst>
          </p:cNvPr>
          <p:cNvSpPr txBox="1"/>
          <p:nvPr/>
        </p:nvSpPr>
        <p:spPr>
          <a:xfrm>
            <a:off x="8554719" y="2031999"/>
            <a:ext cx="2978519" cy="4031873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Create Dashboard</a:t>
            </a:r>
          </a:p>
          <a:p>
            <a:pPr algn="ctr"/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Create a highly interactive dashboard that allows business leaders to make real time, accurate, and data-driven decisions.</a:t>
            </a: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Graphic 8" descr="Research with solid fill">
            <a:extLst>
              <a:ext uri="{FF2B5EF4-FFF2-40B4-BE49-F238E27FC236}">
                <a16:creationId xmlns:a16="http://schemas.microsoft.com/office/drawing/2014/main" id="{7BB243C8-C746-0BC1-5D9F-3D3373EA0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2179320"/>
            <a:ext cx="764540" cy="764540"/>
          </a:xfrm>
          <a:prstGeom prst="rect">
            <a:avLst/>
          </a:prstGeom>
        </p:spPr>
      </p:pic>
      <p:pic>
        <p:nvPicPr>
          <p:cNvPr id="11" name="Graphic 10" descr="Bar chart with solid fill">
            <a:extLst>
              <a:ext uri="{FF2B5EF4-FFF2-40B4-BE49-F238E27FC236}">
                <a16:creationId xmlns:a16="http://schemas.microsoft.com/office/drawing/2014/main" id="{48E1FB69-5491-D0C5-2FB5-FDC94B740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4380" y="2146300"/>
            <a:ext cx="797560" cy="797560"/>
          </a:xfrm>
          <a:prstGeom prst="rect">
            <a:avLst/>
          </a:prstGeom>
        </p:spPr>
      </p:pic>
      <p:pic>
        <p:nvPicPr>
          <p:cNvPr id="13" name="Graphic 12" descr="Pie chart with solid fill">
            <a:extLst>
              <a:ext uri="{FF2B5EF4-FFF2-40B4-BE49-F238E27FC236}">
                <a16:creationId xmlns:a16="http://schemas.microsoft.com/office/drawing/2014/main" id="{3FA9ED5E-8A2C-94BE-AEE3-5A9F49D6E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2480" y="213106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06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5292D-D81B-E9D1-CFBC-DAABE96F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87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Content Placeholder 13" descr="Database with solid fill">
            <a:extLst>
              <a:ext uri="{FF2B5EF4-FFF2-40B4-BE49-F238E27FC236}">
                <a16:creationId xmlns:a16="http://schemas.microsoft.com/office/drawing/2014/main" id="{3518F540-F6B3-B652-E890-67453D031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630" y="1690688"/>
            <a:ext cx="485140" cy="485140"/>
          </a:xfrm>
          <a:ln>
            <a:noFill/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8FFB32-93C1-AD8A-C485-B82A3172D3FD}"/>
              </a:ext>
            </a:extLst>
          </p:cNvPr>
          <p:cNvSpPr/>
          <p:nvPr/>
        </p:nvSpPr>
        <p:spPr>
          <a:xfrm>
            <a:off x="1080770" y="1690688"/>
            <a:ext cx="9723120" cy="1043940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Data Overload</a:t>
            </a:r>
          </a:p>
          <a:p>
            <a:r>
              <a:rPr lang="en-US" dirty="0"/>
              <a:t>Large volumes of Flipkart products and sales data are incredibly difficult and time-consuming to analyze manually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975A2E-774B-ED9C-943F-0A9DF619AEED}"/>
              </a:ext>
            </a:extLst>
          </p:cNvPr>
          <p:cNvSpPr/>
          <p:nvPr/>
        </p:nvSpPr>
        <p:spPr>
          <a:xfrm>
            <a:off x="1080770" y="2943860"/>
            <a:ext cx="9723120" cy="1043940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Identification Challenges &amp; Lack of Vision</a:t>
            </a:r>
          </a:p>
          <a:p>
            <a:r>
              <a:rPr lang="en-US" dirty="0">
                <a:solidFill>
                  <a:schemeClr val="bg1"/>
                </a:solidFill>
              </a:rPr>
              <a:t>Without proper visualization, recognizing seasonal sales trends, customer preferences, and top-selling categories is nearly impossible.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D9EF2F-1685-EA96-07A8-C9C597F5FAF0}"/>
              </a:ext>
            </a:extLst>
          </p:cNvPr>
          <p:cNvSpPr/>
          <p:nvPr/>
        </p:nvSpPr>
        <p:spPr>
          <a:xfrm>
            <a:off x="1080770" y="4197032"/>
            <a:ext cx="9723120" cy="1043940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Time-Consuming &amp; Inefficient Reporting</a:t>
            </a:r>
          </a:p>
          <a:p>
            <a:r>
              <a:rPr lang="en-US" dirty="0"/>
              <a:t>Comparing product prices, discounts and ratings takes significant time. Manual reporting is slow, error prone and entirely static.</a:t>
            </a:r>
            <a:endParaRPr lang="en-IN" dirty="0"/>
          </a:p>
        </p:txBody>
      </p:sp>
      <p:pic>
        <p:nvPicPr>
          <p:cNvPr id="20" name="Graphic 19" descr="Hourglass Finished with solid fill">
            <a:extLst>
              <a:ext uri="{FF2B5EF4-FFF2-40B4-BE49-F238E27FC236}">
                <a16:creationId xmlns:a16="http://schemas.microsoft.com/office/drawing/2014/main" id="{6CA94F61-739C-1266-8565-D2826381C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630" y="4197032"/>
            <a:ext cx="485140" cy="48514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D02B4DE-FC9F-0131-2940-E71E402091E6}"/>
              </a:ext>
            </a:extLst>
          </p:cNvPr>
          <p:cNvSpPr/>
          <p:nvPr/>
        </p:nvSpPr>
        <p:spPr>
          <a:xfrm>
            <a:off x="1797050" y="5720715"/>
            <a:ext cx="8290560" cy="77216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The Solution: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An interactive Power BI dashboard is required to transform this raw, disconnected data into meaningful, strategic business insights.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Graphic 3" descr="Blind with solid fill">
            <a:extLst>
              <a:ext uri="{FF2B5EF4-FFF2-40B4-BE49-F238E27FC236}">
                <a16:creationId xmlns:a16="http://schemas.microsoft.com/office/drawing/2014/main" id="{540114D1-B169-8BB3-2AC7-F697B9075C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630" y="2948735"/>
            <a:ext cx="485140" cy="48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91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8FCB-2FC0-1D38-F5A9-42B358DC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 &amp; Keys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F309A-D5EF-D7A2-7AC8-F3D89AF21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440"/>
            <a:ext cx="3750310" cy="4401205"/>
          </a:xfr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b="1" dirty="0">
                <a:solidFill>
                  <a:srgbClr val="FFC000"/>
                </a:solidFill>
              </a:rPr>
              <a:t>Dataset Overview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dataset contains vital information about   Flipkart products, allowing for deep categorial, operational and financial analysis.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It encompasses over </a:t>
            </a:r>
            <a:r>
              <a:rPr lang="en-US" sz="1800" b="1" dirty="0">
                <a:solidFill>
                  <a:schemeClr val="bg1"/>
                </a:solidFill>
              </a:rPr>
              <a:t>1000 real customers </a:t>
            </a:r>
            <a:r>
              <a:rPr lang="en-US" sz="1800" dirty="0">
                <a:solidFill>
                  <a:schemeClr val="bg1"/>
                </a:solidFill>
              </a:rPr>
              <a:t>orders, providing a comprehensive, real-world overview of product sales behavior and consumer trends.</a:t>
            </a:r>
            <a:endParaRPr lang="en-IN" sz="1800" dirty="0">
              <a:solidFill>
                <a:schemeClr val="bg1"/>
              </a:solidFill>
            </a:endParaRPr>
          </a:p>
        </p:txBody>
      </p:sp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7B6F3621-9868-586A-91EA-E8DA3D312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885952"/>
            <a:ext cx="358140" cy="358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FBD558-D0D8-3003-AC9D-71BE329F7883}"/>
              </a:ext>
            </a:extLst>
          </p:cNvPr>
          <p:cNvSpPr txBox="1"/>
          <p:nvPr/>
        </p:nvSpPr>
        <p:spPr>
          <a:xfrm>
            <a:off x="5019040" y="1869441"/>
            <a:ext cx="6624320" cy="4401205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reflection endPos="0" dir="5400000" sy="-100000" algn="bl" rotWithShape="0"/>
            <a:softEdge rad="38100"/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  <a:r>
              <a:rPr lang="en-US" sz="2800" b="1" dirty="0">
                <a:solidFill>
                  <a:srgbClr val="FFC000"/>
                </a:solidFill>
              </a:rPr>
              <a:t>Dataset Keys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Primary Key : Product ID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unique identifier across the dataset. Crucial for establishing relationships and preventing duplicate counts.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Important fields Analyzed 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Price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Rating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Discount</a:t>
            </a:r>
          </a:p>
          <a:p>
            <a:pPr marL="285750" indent="-285750"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Sales(Volume)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Graphic 8" descr="Network with solid fill">
            <a:extLst>
              <a:ext uri="{FF2B5EF4-FFF2-40B4-BE49-F238E27FC236}">
                <a16:creationId xmlns:a16="http://schemas.microsoft.com/office/drawing/2014/main" id="{F7B7F76D-7EFE-52CC-69D7-DD2D246D8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0640" y="186944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1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9120-82A7-B056-C4E3-532A7C3E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Modeling &amp;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30C21-EB06-C721-CDDA-D5F681F5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333136" cy="4431983"/>
          </a:xfr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/>
          <a:lstStyle/>
          <a:p>
            <a:pPr marL="0" indent="0" algn="ctr">
              <a:buNone/>
            </a:pP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endParaRPr lang="en-US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Modeling</a:t>
            </a:r>
          </a:p>
          <a:p>
            <a:pPr marL="0" indent="0" algn="ctr">
              <a:buNone/>
            </a:pPr>
            <a:endParaRPr lang="en-US" sz="1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cleaned &amp; transformed using Power Query. Features optimized star schema, primary/foreign keys, and established table relationships for speed.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8CB648-A5E4-A40A-1B53-3F70562E07C0}"/>
              </a:ext>
            </a:extLst>
          </p:cNvPr>
          <p:cNvSpPr txBox="1"/>
          <p:nvPr/>
        </p:nvSpPr>
        <p:spPr>
          <a:xfrm>
            <a:off x="4504403" y="1825625"/>
            <a:ext cx="3333136" cy="4431983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Engine</a:t>
            </a: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Powered by robust dataset importation, comprehensive, data transformations, and custom DAX (Data Analysis Expressions) Measures.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349E2B-F1B2-3557-1F63-7B0577256A12}"/>
              </a:ext>
            </a:extLst>
          </p:cNvPr>
          <p:cNvSpPr txBox="1"/>
          <p:nvPr/>
        </p:nvSpPr>
        <p:spPr>
          <a:xfrm>
            <a:off x="8170606" y="1825625"/>
            <a:ext cx="3333136" cy="4431983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 wrap="square" rtlCol="0">
            <a:spAutoFit/>
          </a:bodyPr>
          <a:lstStyle/>
          <a:p>
            <a:pPr algn="ctr"/>
            <a:endParaRPr lang="en-US" sz="2800" dirty="0"/>
          </a:p>
          <a:p>
            <a:pPr algn="ctr"/>
            <a:endParaRPr lang="en-IN" sz="2800" dirty="0"/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Visualizations</a:t>
            </a: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Rich UX featuring KPI Cards,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Bar Charts, Pie/Donut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Charts with dynamic slicers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and seamless 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cross-filtering interactivity.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15" name="Graphic 14" descr="Single gear with solid fill">
            <a:extLst>
              <a:ext uri="{FF2B5EF4-FFF2-40B4-BE49-F238E27FC236}">
                <a16:creationId xmlns:a16="http://schemas.microsoft.com/office/drawing/2014/main" id="{C46A66D1-BE15-B941-1D47-504C23AFB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6763" y="1929013"/>
            <a:ext cx="718473" cy="718473"/>
          </a:xfrm>
          <a:prstGeom prst="rect">
            <a:avLst/>
          </a:prstGeom>
        </p:spPr>
      </p:pic>
      <p:pic>
        <p:nvPicPr>
          <p:cNvPr id="17" name="Graphic 16" descr="Upward trend with solid fill">
            <a:extLst>
              <a:ext uri="{FF2B5EF4-FFF2-40B4-BE49-F238E27FC236}">
                <a16:creationId xmlns:a16="http://schemas.microsoft.com/office/drawing/2014/main" id="{25C9C863-2C5A-7EB4-6004-B33C4B63DC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7794" y="1988367"/>
            <a:ext cx="652105" cy="652105"/>
          </a:xfrm>
          <a:prstGeom prst="rect">
            <a:avLst/>
          </a:prstGeom>
        </p:spPr>
      </p:pic>
      <p:pic>
        <p:nvPicPr>
          <p:cNvPr id="19" name="Graphic 18" descr="Venn diagram with solid fill">
            <a:extLst>
              <a:ext uri="{FF2B5EF4-FFF2-40B4-BE49-F238E27FC236}">
                <a16:creationId xmlns:a16="http://schemas.microsoft.com/office/drawing/2014/main" id="{A48A11F2-5FC0-3455-3D6F-C068747A9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7119" y="1925175"/>
            <a:ext cx="715297" cy="7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98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D42E-E689-10EF-1C01-300B8139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Proposed System 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38DC-DFEC-7A64-D6A9-02B653FBC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B3904F-FAC9-5A6D-DC2D-4A028167C3C4}"/>
              </a:ext>
            </a:extLst>
          </p:cNvPr>
          <p:cNvCxnSpPr>
            <a:cxnSpLocks/>
          </p:cNvCxnSpPr>
          <p:nvPr/>
        </p:nvCxnSpPr>
        <p:spPr>
          <a:xfrm>
            <a:off x="412955" y="4001294"/>
            <a:ext cx="11346426" cy="249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E1C23DE-A397-6540-8545-3C5309EB7EED}"/>
              </a:ext>
            </a:extLst>
          </p:cNvPr>
          <p:cNvSpPr/>
          <p:nvPr/>
        </p:nvSpPr>
        <p:spPr>
          <a:xfrm rot="10800000">
            <a:off x="1123331" y="4464660"/>
            <a:ext cx="2219633" cy="1737652"/>
          </a:xfrm>
          <a:prstGeom prst="wedgeRoundRectCallout">
            <a:avLst>
              <a:gd name="adj1" fmla="val -22188"/>
              <a:gd name="adj2" fmla="val 60419"/>
              <a:gd name="adj3" fmla="val 16667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AB00B9AB-6E61-CB85-5773-8E80FD038AEE}"/>
              </a:ext>
            </a:extLst>
          </p:cNvPr>
          <p:cNvSpPr/>
          <p:nvPr/>
        </p:nvSpPr>
        <p:spPr>
          <a:xfrm>
            <a:off x="2595716" y="3988306"/>
            <a:ext cx="245806" cy="244520"/>
          </a:xfrm>
          <a:prstGeom prst="donut">
            <a:avLst>
              <a:gd name="adj" fmla="val 1640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Circle: Hollow 14">
            <a:extLst>
              <a:ext uri="{FF2B5EF4-FFF2-40B4-BE49-F238E27FC236}">
                <a16:creationId xmlns:a16="http://schemas.microsoft.com/office/drawing/2014/main" id="{9979ED0A-CA94-8697-EDA5-F173AA3FC24A}"/>
              </a:ext>
            </a:extLst>
          </p:cNvPr>
          <p:cNvSpPr/>
          <p:nvPr/>
        </p:nvSpPr>
        <p:spPr>
          <a:xfrm>
            <a:off x="4739149" y="3782138"/>
            <a:ext cx="245806" cy="244513"/>
          </a:xfrm>
          <a:prstGeom prst="donut">
            <a:avLst>
              <a:gd name="adj" fmla="val 15304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5CFD08D7-E457-22CA-CFCB-17DF50AC80D1}"/>
              </a:ext>
            </a:extLst>
          </p:cNvPr>
          <p:cNvSpPr/>
          <p:nvPr/>
        </p:nvSpPr>
        <p:spPr>
          <a:xfrm>
            <a:off x="7329948" y="4001294"/>
            <a:ext cx="245806" cy="244517"/>
          </a:xfrm>
          <a:prstGeom prst="donut">
            <a:avLst>
              <a:gd name="adj" fmla="val 158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54C23D09-AEFE-5FD2-1FFD-DD82E58FC875}"/>
              </a:ext>
            </a:extLst>
          </p:cNvPr>
          <p:cNvSpPr/>
          <p:nvPr/>
        </p:nvSpPr>
        <p:spPr>
          <a:xfrm>
            <a:off x="9473381" y="3781702"/>
            <a:ext cx="245806" cy="244513"/>
          </a:xfrm>
          <a:prstGeom prst="donut">
            <a:avLst>
              <a:gd name="adj" fmla="val 1196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14877-BA39-4125-60DD-8CF1818DFF5D}"/>
              </a:ext>
            </a:extLst>
          </p:cNvPr>
          <p:cNvSpPr txBox="1"/>
          <p:nvPr/>
        </p:nvSpPr>
        <p:spPr>
          <a:xfrm>
            <a:off x="1339023" y="4576525"/>
            <a:ext cx="17882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1. Source Data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Import raw Flipkart Dataset containing orders, product details, and financials.</a:t>
            </a: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DAFB4CB5-08D1-19BF-9970-CDEAFA4FE1D5}"/>
              </a:ext>
            </a:extLst>
          </p:cNvPr>
          <p:cNvSpPr/>
          <p:nvPr/>
        </p:nvSpPr>
        <p:spPr>
          <a:xfrm>
            <a:off x="4178710" y="1825625"/>
            <a:ext cx="2340077" cy="1724675"/>
          </a:xfrm>
          <a:prstGeom prst="wedgeRoundRectCallout">
            <a:avLst>
              <a:gd name="adj1" fmla="val -20833"/>
              <a:gd name="adj2" fmla="val 59683"/>
              <a:gd name="adj3" fmla="val 16667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2. Cleaning </a:t>
            </a:r>
          </a:p>
          <a:p>
            <a:pPr algn="ctr"/>
            <a:r>
              <a:rPr lang="en-US" sz="1600" dirty="0"/>
              <a:t>Utilize Power Query &amp; establish Data Modeling to remove anomalies and structure.</a:t>
            </a:r>
            <a:endParaRPr lang="en-IN" sz="1600" dirty="0"/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F29F2021-2125-1940-E8A8-449900E3F3B2}"/>
              </a:ext>
            </a:extLst>
          </p:cNvPr>
          <p:cNvSpPr/>
          <p:nvPr/>
        </p:nvSpPr>
        <p:spPr>
          <a:xfrm rot="10800000">
            <a:off x="5884605" y="4507918"/>
            <a:ext cx="2219634" cy="1737651"/>
          </a:xfrm>
          <a:prstGeom prst="wedgeRoundRectCallout">
            <a:avLst>
              <a:gd name="adj1" fmla="val -20833"/>
              <a:gd name="adj2" fmla="val 63066"/>
              <a:gd name="adj3" fmla="val 16667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3247B-7B27-F9F7-F974-CA1A9A1C2806}"/>
              </a:ext>
            </a:extLst>
          </p:cNvPr>
          <p:cNvSpPr txBox="1"/>
          <p:nvPr/>
        </p:nvSpPr>
        <p:spPr>
          <a:xfrm>
            <a:off x="6096000" y="4576525"/>
            <a:ext cx="18091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3. Calculations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Apply  advanced DAX Measures and analytical business logic for key metrics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9CB3A6B3-7634-21DA-2937-2084564BF7DD}"/>
              </a:ext>
            </a:extLst>
          </p:cNvPr>
          <p:cNvSpPr/>
          <p:nvPr/>
        </p:nvSpPr>
        <p:spPr>
          <a:xfrm>
            <a:off x="8920316" y="1838176"/>
            <a:ext cx="2354825" cy="1724673"/>
          </a:xfrm>
          <a:prstGeom prst="wedgeRoundRectCallout">
            <a:avLst>
              <a:gd name="adj1" fmla="val -20833"/>
              <a:gd name="adj2" fmla="val 60790"/>
              <a:gd name="adj3" fmla="val 16667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4. Output</a:t>
            </a:r>
          </a:p>
          <a:p>
            <a:pPr algn="ctr"/>
            <a:r>
              <a:rPr lang="en-US" sz="1600" dirty="0"/>
              <a:t>Deploy the final, interactive Power BI Dashboard for end-user insights.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9898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1C84-3385-29DF-CE38-D043DF49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Overview: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KPI Summary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A3F87-9156-358D-3FB7-5B7FDCB91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Performance Indicators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high-level view of overall platform performance                                                                                             highlights significant revenue generation and substantial                                                                                         order volumes over the analyzed period. 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E6104C-B271-A29C-A94A-CF9743A173B3}"/>
              </a:ext>
            </a:extLst>
          </p:cNvPr>
          <p:cNvSpPr/>
          <p:nvPr/>
        </p:nvSpPr>
        <p:spPr>
          <a:xfrm>
            <a:off x="914398" y="3428999"/>
            <a:ext cx="2320414" cy="966019"/>
          </a:xfrm>
          <a:prstGeom prst="roundRect">
            <a:avLst>
              <a:gd name="adj" fmla="val 14631"/>
            </a:avLst>
          </a:prstGeom>
          <a:gradFill>
            <a:gsLst>
              <a:gs pos="50000">
                <a:srgbClr val="314A74"/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Average Sales Per Order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10.08K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8B2220-9F1E-3436-640B-3ADFC3BF2C89}"/>
              </a:ext>
            </a:extLst>
          </p:cNvPr>
          <p:cNvSpPr/>
          <p:nvPr/>
        </p:nvSpPr>
        <p:spPr>
          <a:xfrm>
            <a:off x="914398" y="4529955"/>
            <a:ext cx="2320414" cy="966019"/>
          </a:xfrm>
          <a:prstGeom prst="roundRect">
            <a:avLst>
              <a:gd name="adj" fmla="val 14631"/>
            </a:avLst>
          </a:prstGeom>
          <a:gradFill>
            <a:gsLst>
              <a:gs pos="50000">
                <a:srgbClr val="314A74"/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Average Rating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3.02</a:t>
            </a:r>
            <a:r>
              <a:rPr lang="en-US" sz="16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/5.00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5FEE42-95C7-0860-2CDD-19AC1081249F}"/>
              </a:ext>
            </a:extLst>
          </p:cNvPr>
          <p:cNvSpPr/>
          <p:nvPr/>
        </p:nvSpPr>
        <p:spPr>
          <a:xfrm>
            <a:off x="3476930" y="4529954"/>
            <a:ext cx="2320414" cy="966019"/>
          </a:xfrm>
          <a:prstGeom prst="roundRect">
            <a:avLst>
              <a:gd name="adj" fmla="val 14631"/>
            </a:avLst>
          </a:prstGeom>
          <a:gradFill>
            <a:gsLst>
              <a:gs pos="50000">
                <a:srgbClr val="314A74"/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Average Discount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14.36%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DBAC5D-EB4D-81A2-2563-4BFD0968494C}"/>
              </a:ext>
            </a:extLst>
          </p:cNvPr>
          <p:cNvSpPr/>
          <p:nvPr/>
        </p:nvSpPr>
        <p:spPr>
          <a:xfrm>
            <a:off x="3476930" y="3428998"/>
            <a:ext cx="2320414" cy="966019"/>
          </a:xfrm>
          <a:prstGeom prst="roundRect">
            <a:avLst>
              <a:gd name="adj" fmla="val 14631"/>
            </a:avLst>
          </a:prstGeom>
          <a:gradFill>
            <a:gsLst>
              <a:gs pos="50000">
                <a:srgbClr val="314A74"/>
              </a:gs>
              <a:gs pos="100000">
                <a:schemeClr val="tx2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Quantity Sold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5K Units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9A048-8EFD-0B0A-1653-47DED34EDDDF}"/>
              </a:ext>
            </a:extLst>
          </p:cNvPr>
          <p:cNvSpPr/>
          <p:nvPr/>
        </p:nvSpPr>
        <p:spPr>
          <a:xfrm>
            <a:off x="6833419" y="1825625"/>
            <a:ext cx="4762499" cy="3670348"/>
          </a:xfrm>
          <a:prstGeom prst="roundRect">
            <a:avLst>
              <a:gd name="adj" fmla="val 5952"/>
            </a:avLst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10M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Sales (INR)</a:t>
            </a:r>
            <a:endParaRPr lang="en-IN" sz="28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9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B3C7-A45C-DE9E-591E-42D2A401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55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 Product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Categories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C578C8-839C-DB78-1790-9631C248D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152036"/>
              </a:clrFrom>
              <a:clrTo>
                <a:srgbClr val="1520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89" y="1571118"/>
            <a:ext cx="11364821" cy="3715764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15240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57A75-2822-6EC9-797B-D7B7F62F7FD0}"/>
              </a:ext>
            </a:extLst>
          </p:cNvPr>
          <p:cNvSpPr/>
          <p:nvPr/>
        </p:nvSpPr>
        <p:spPr>
          <a:xfrm>
            <a:off x="838200" y="5425747"/>
            <a:ext cx="10515600" cy="77216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Electronics and Fashion drive the highest revenue, making up nearly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50%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of the total sales volume, indicating core consumer demands on the platform.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012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C252-B57F-CF41-D539-F0C8C1F5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1764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Payment Method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57D4F-83C1-BC64-5B8C-C3D06DF33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122136"/>
              </a:clrFrom>
              <a:clrTo>
                <a:srgbClr val="1221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569" y="1430756"/>
            <a:ext cx="7554861" cy="39964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75BF0C-3418-597E-87BA-4B126BA100B3}"/>
              </a:ext>
            </a:extLst>
          </p:cNvPr>
          <p:cNvSpPr/>
          <p:nvPr/>
        </p:nvSpPr>
        <p:spPr>
          <a:xfrm>
            <a:off x="838200" y="5720714"/>
            <a:ext cx="10515600" cy="77216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Customer Payment preferences are highly diversified across methods, with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Debit Cards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Cash on Delivery (COD)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being the most utilized.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135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6AE0-1990-95E4-B821-E217D2D91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64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Sales Trend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 Time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364F01-215F-489C-DFCE-60B6011DE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121D33"/>
              </a:clrFrom>
              <a:clrTo>
                <a:srgbClr val="121D3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34" y="1259450"/>
            <a:ext cx="11709529" cy="45612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BD2C7B-C805-0577-A343-9F64CCED5DBF}"/>
              </a:ext>
            </a:extLst>
          </p:cNvPr>
          <p:cNvSpPr/>
          <p:nvPr/>
        </p:nvSpPr>
        <p:spPr>
          <a:xfrm>
            <a:off x="838199" y="5820697"/>
            <a:ext cx="10704872" cy="772160"/>
          </a:xfrm>
          <a:prstGeom prst="rect">
            <a:avLst/>
          </a:prstGeom>
          <a:solidFill>
            <a:schemeClr val="tx2">
              <a:lumMod val="50000"/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Sales remained relatively stable around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0.6M (INR)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throughout early 2023. We observed a significant peak in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Q4 (Festive Season)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before experiencing  a drop entering 2024.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36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2160-E375-02C9-5F58-366CCB64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Dashboard </a:t>
            </a:r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Features</a:t>
            </a:r>
            <a:endParaRPr lang="en-IN" sz="40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13CD-91F7-ACD4-6871-546F9998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4864510" cy="4585871"/>
          </a:xfr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      </a:t>
            </a:r>
          </a:p>
          <a:p>
            <a:pPr marL="0" indent="0">
              <a:buNone/>
            </a:pPr>
            <a:endParaRPr lang="en-US" b="1" dirty="0">
              <a:solidFill>
                <a:srgbClr val="FFC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C000"/>
                </a:solidFill>
              </a:rPr>
              <a:t>Analytical Features</a:t>
            </a:r>
          </a:p>
          <a:p>
            <a:pPr marL="0" indent="0" algn="ctr">
              <a:buNone/>
            </a:pPr>
            <a:endParaRPr lang="en-US" b="1" dirty="0">
              <a:solidFill>
                <a:srgbClr val="FFC000"/>
              </a:solidFill>
            </a:endParaRPr>
          </a:p>
          <a:p>
            <a:pPr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Sales &amp; Category Features</a:t>
            </a:r>
          </a:p>
          <a:p>
            <a:pPr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Product Performance</a:t>
            </a:r>
          </a:p>
          <a:p>
            <a:pPr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Price Comparison &amp; Rating Analysis 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034CD-871D-51B9-1CE7-D72D64F64661}"/>
              </a:ext>
            </a:extLst>
          </p:cNvPr>
          <p:cNvSpPr txBox="1"/>
          <p:nvPr/>
        </p:nvSpPr>
        <p:spPr>
          <a:xfrm>
            <a:off x="6489291" y="1690688"/>
            <a:ext cx="4864510" cy="4524315"/>
          </a:xfrm>
          <a:prstGeom prst="rect">
            <a:avLst/>
          </a:prstGeom>
          <a:gradFill>
            <a:gsLst>
              <a:gs pos="100000">
                <a:srgbClr val="002060"/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38100"/>
          </a:effectLst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IN" sz="2800" dirty="0"/>
          </a:p>
          <a:p>
            <a:pPr algn="ctr"/>
            <a:endParaRPr lang="en-IN" sz="2000" b="1" dirty="0">
              <a:solidFill>
                <a:srgbClr val="FFC000"/>
              </a:solidFill>
            </a:endParaRPr>
          </a:p>
          <a:p>
            <a:pPr algn="ctr"/>
            <a:r>
              <a:rPr lang="en-IN" sz="2800" b="1" dirty="0">
                <a:solidFill>
                  <a:srgbClr val="FFC000"/>
                </a:solidFill>
              </a:rPr>
              <a:t>Visual Components</a:t>
            </a:r>
          </a:p>
          <a:p>
            <a:pPr algn="ctr"/>
            <a:endParaRPr lang="en-IN" sz="2800" b="1" dirty="0">
              <a:solidFill>
                <a:srgbClr val="FFC000"/>
              </a:solidFill>
            </a:endParaRPr>
          </a:p>
          <a:p>
            <a:pPr marL="342900" indent="-342900"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bg1"/>
                </a:solidFill>
              </a:rPr>
              <a:t>Interactive Filters &amp; KPI Cards</a:t>
            </a:r>
          </a:p>
          <a:p>
            <a:pPr algn="ctr">
              <a:buClr>
                <a:srgbClr val="FFC000"/>
              </a:buClr>
            </a:pPr>
            <a:endParaRPr lang="en-IN" sz="800" dirty="0">
              <a:solidFill>
                <a:schemeClr val="bg1"/>
              </a:solidFill>
            </a:endParaRPr>
          </a:p>
          <a:p>
            <a:pPr marL="342900" indent="-342900"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bg1"/>
                </a:solidFill>
              </a:rPr>
              <a:t>Dynamic Charts &amp; Slicers</a:t>
            </a:r>
          </a:p>
          <a:p>
            <a:pPr marL="342900" indent="-342900"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endParaRPr lang="en-IN" sz="800" dirty="0">
              <a:solidFill>
                <a:schemeClr val="bg1"/>
              </a:solidFill>
            </a:endParaRPr>
          </a:p>
          <a:p>
            <a:pPr marL="342900" indent="-342900" algn="ctr"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bg1"/>
                </a:solidFill>
              </a:rPr>
              <a:t>Geographic Maps for Regional Data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6" name="Graphic 5" descr="Laptop with solid fill">
            <a:extLst>
              <a:ext uri="{FF2B5EF4-FFF2-40B4-BE49-F238E27FC236}">
                <a16:creationId xmlns:a16="http://schemas.microsoft.com/office/drawing/2014/main" id="{61F6C21B-7482-D3EA-CC62-E198BD3FD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6121" y="2092606"/>
            <a:ext cx="741031" cy="741031"/>
          </a:xfrm>
          <a:prstGeom prst="rect">
            <a:avLst/>
          </a:prstGeom>
        </p:spPr>
      </p:pic>
      <p:pic>
        <p:nvPicPr>
          <p:cNvPr id="8" name="Graphic 7" descr="Pie chart with solid fill">
            <a:extLst>
              <a:ext uri="{FF2B5EF4-FFF2-40B4-BE49-F238E27FC236}">
                <a16:creationId xmlns:a16="http://schemas.microsoft.com/office/drawing/2014/main" id="{8AF5DB76-2287-C801-F7D4-FD6198EDDB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4850" y="2067579"/>
            <a:ext cx="631211" cy="6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14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979D-C637-ED1F-2FEC-26AC23BB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of the Project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02B199-223D-7C43-6E3B-12EED9C9D743}"/>
              </a:ext>
            </a:extLst>
          </p:cNvPr>
          <p:cNvSpPr/>
          <p:nvPr/>
        </p:nvSpPr>
        <p:spPr>
          <a:xfrm>
            <a:off x="979973" y="1825625"/>
            <a:ext cx="10291916" cy="1140542"/>
          </a:xfrm>
          <a:prstGeom prst="roundRect">
            <a:avLst>
              <a:gd name="adj" fmla="val 16667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C000"/>
                </a:solidFill>
              </a:rPr>
              <a:t>Faster Decision-Making &amp; Better Understanding</a:t>
            </a:r>
          </a:p>
          <a:p>
            <a:r>
              <a:rPr lang="en-US" dirty="0">
                <a:solidFill>
                  <a:schemeClr val="bg1"/>
                </a:solidFill>
              </a:rPr>
              <a:t>Real time views enable immediate strategic pivots, providing a clearer view of seasonal sales and complex      customer behavior. 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A8C24B-5B8B-83CB-7B0F-E1F3806095D5}"/>
              </a:ext>
            </a:extLst>
          </p:cNvPr>
          <p:cNvSpPr/>
          <p:nvPr/>
        </p:nvSpPr>
        <p:spPr>
          <a:xfrm>
            <a:off x="979974" y="3321563"/>
            <a:ext cx="10373825" cy="1140542"/>
          </a:xfrm>
          <a:prstGeom prst="roundRect">
            <a:avLst>
              <a:gd name="adj" fmla="val 14942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C000"/>
                </a:solidFill>
              </a:rPr>
              <a:t>Interactive Reports &amp; Easy Visualization</a:t>
            </a:r>
          </a:p>
          <a:p>
            <a:r>
              <a:rPr lang="en-IN" dirty="0">
                <a:solidFill>
                  <a:schemeClr val="bg1"/>
                </a:solidFill>
              </a:rPr>
              <a:t>Translates complex, raw data into visual stories. Interactive architecture allows deep dives into specific regions, items, or timeframes.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149CA5-A764-40E1-AC8C-41AEE97B3DFE}"/>
              </a:ext>
            </a:extLst>
          </p:cNvPr>
          <p:cNvSpPr/>
          <p:nvPr/>
        </p:nvSpPr>
        <p:spPr>
          <a:xfrm>
            <a:off x="979973" y="4817501"/>
            <a:ext cx="10373825" cy="1140542"/>
          </a:xfrm>
          <a:prstGeom prst="roundRect">
            <a:avLst>
              <a:gd name="adj" fmla="val 14942"/>
            </a:avLst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accent1">
                  <a:lumMod val="75000"/>
                </a:schemeClr>
              </a:gs>
              <a:gs pos="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FFC000"/>
                </a:solidFill>
              </a:rPr>
              <a:t>Time-Saving Analysis &amp; Improved Performance</a:t>
            </a:r>
          </a:p>
          <a:p>
            <a:r>
              <a:rPr lang="en-US" dirty="0">
                <a:solidFill>
                  <a:schemeClr val="bg1"/>
                </a:solidFill>
              </a:rPr>
              <a:t>Automates the previously manual, error-prone reporting process, driving strategic, high ROI actions based on solid factual data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8" name="Content Placeholder 27" descr="Bullseye with solid fill">
            <a:extLst>
              <a:ext uri="{FF2B5EF4-FFF2-40B4-BE49-F238E27FC236}">
                <a16:creationId xmlns:a16="http://schemas.microsoft.com/office/drawing/2014/main" id="{3DC89B09-DFAB-BA58-3CDB-D70324695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031" y="3321563"/>
            <a:ext cx="493942" cy="493942"/>
          </a:xfrm>
        </p:spPr>
      </p:pic>
      <p:pic>
        <p:nvPicPr>
          <p:cNvPr id="30" name="Graphic 29" descr="Clock with solid fill">
            <a:extLst>
              <a:ext uri="{FF2B5EF4-FFF2-40B4-BE49-F238E27FC236}">
                <a16:creationId xmlns:a16="http://schemas.microsoft.com/office/drawing/2014/main" id="{12206123-BEE0-3F48-46EA-9C5C2C3A1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031" y="4817501"/>
            <a:ext cx="493942" cy="493942"/>
          </a:xfrm>
          <a:prstGeom prst="rect">
            <a:avLst/>
          </a:prstGeom>
        </p:spPr>
      </p:pic>
      <p:pic>
        <p:nvPicPr>
          <p:cNvPr id="32" name="Graphic 31" descr="Lightning bolt with solid fill">
            <a:extLst>
              <a:ext uri="{FF2B5EF4-FFF2-40B4-BE49-F238E27FC236}">
                <a16:creationId xmlns:a16="http://schemas.microsoft.com/office/drawing/2014/main" id="{12D7B9BD-FCC2-3009-2FAD-F44F7AA6D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031" y="1875442"/>
            <a:ext cx="493942" cy="49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54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2060"/>
            </a:gs>
            <a:gs pos="0">
              <a:schemeClr val="accent1">
                <a:lumMod val="75000"/>
              </a:schemeClr>
            </a:gs>
            <a:gs pos="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FE55-E7B9-36A1-CCF5-6D4705560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74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Questions?</a:t>
            </a:r>
            <a:endParaRPr lang="en-IN" sz="4800" b="1" dirty="0">
              <a:solidFill>
                <a:srgbClr val="FFC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E66B-9C66-3961-D970-EECCE5E1C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2002606"/>
            <a:ext cx="1167089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Thank you for your attention and precious time. </a:t>
            </a: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This project demonstrates how Power BI can transform Flipkart product data into meaningful business intelligence dashboards. </a:t>
            </a:r>
          </a:p>
          <a:p>
            <a:pPr marL="0" indent="0" algn="ctr">
              <a:buNone/>
            </a:pPr>
            <a:endParaRPr lang="en-IN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__________________________________________________</a:t>
            </a:r>
          </a:p>
          <a:p>
            <a:pPr marL="0" indent="0" algn="ctr">
              <a:buNone/>
            </a:pPr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20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Moupiya</a:t>
            </a:r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Saha | Tanishka Saha | Sangita Das | Swastika Das | Shovon Das</a:t>
            </a:r>
          </a:p>
          <a:p>
            <a:pPr marL="0" indent="0" algn="ctr">
              <a:buNone/>
            </a:pPr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Institute of Engineering and Management, Kolkata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47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815</Words>
  <Application>Microsoft Office PowerPoint</Application>
  <PresentationFormat>Widescreen</PresentationFormat>
  <Paragraphs>158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Wingdings</vt:lpstr>
      <vt:lpstr>Office Theme</vt:lpstr>
      <vt:lpstr>Flipkart Product Analysis</vt:lpstr>
      <vt:lpstr>Project Overview</vt:lpstr>
      <vt:lpstr>Core Project Goals</vt:lpstr>
      <vt:lpstr>The Problem Statement</vt:lpstr>
      <vt:lpstr>Dataset Overview &amp; Keys</vt:lpstr>
      <vt:lpstr>Data Modeling &amp; Features</vt:lpstr>
      <vt:lpstr>Proposed System  Architecture</vt:lpstr>
      <vt:lpstr>Dashboard Overview: KPI Summary</vt:lpstr>
      <vt:lpstr>Top Product Categories</vt:lpstr>
      <vt:lpstr>Payment Method Analysis</vt:lpstr>
      <vt:lpstr>Sales Trend Over Time</vt:lpstr>
      <vt:lpstr>Dashboard Features</vt:lpstr>
      <vt:lpstr>Benefits of the Project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TaniShka SaHa</dc:creator>
  <cp:lastModifiedBy>TaniShka SaHa</cp:lastModifiedBy>
  <cp:revision>2</cp:revision>
  <dcterms:created xsi:type="dcterms:W3CDTF">2026-07-11T18:23:59Z</dcterms:created>
  <dcterms:modified xsi:type="dcterms:W3CDTF">2026-07-12T08:22:54Z</dcterms:modified>
</cp:coreProperties>
</file>